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58200" y="-502920"/>
            <a:ext cx="4297680" cy="4297680"/>
          </a:xfrm>
          <a:prstGeom prst="roundRect">
            <a:avLst/>
          </a:prstGeom>
          <a:solidFill>
            <a:srgbClr val="E7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72600" y="658368"/>
            <a:ext cx="2468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600" b="1">
                <a:solidFill>
                  <a:srgbClr val="2A894E"/>
                </a:solidFill>
                <a:latin typeface="Aptos"/>
              </a:rPr>
              <a:t>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98448"/>
            <a:ext cx="6675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4231D"/>
                </a:solidFill>
                <a:latin typeface="Aptos"/>
              </a:rPr>
              <a:t>EcoSort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A894E"/>
                </a:solidFill>
                <a:latin typeface="Aptos"/>
              </a:rPr>
              <a:t>AI-Powered Waste Identification
&amp; Responsible Disposal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337560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C64"/>
                </a:solidFill>
                <a:latin typeface="Aptos"/>
              </a:rPr>
              <a:t>AI for Sustainability Virtual Internship
In collaboration with IBM SkillsBuild &amp; AICTE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31596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894E"/>
                </a:solidFill>
                <a:latin typeface="Aptos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599432"/>
            <a:ext cx="3474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31D"/>
                </a:solidFill>
                <a:latin typeface="Aptos"/>
              </a:rPr>
              <a:t>Arjun Patil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010912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C64"/>
                </a:solidFill>
                <a:latin typeface="Aptos"/>
              </a:rPr>
              <a:t>Sphoorthy Engineering College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687568"/>
            <a:ext cx="4480560" cy="438912"/>
          </a:xfrm>
          <a:prstGeom prst="roundRect">
            <a:avLst/>
          </a:prstGeom>
          <a:solidFill>
            <a:srgbClr val="E7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5779008"/>
            <a:ext cx="4160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75B34"/>
                </a:solidFill>
                <a:latin typeface="Aptos"/>
              </a:rPr>
              <a:t>SDG 12  •  Responsible Consumption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231D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64"/>
                </a:solidFill>
                <a:latin typeface="Aptos"/>
              </a:rPr>
              <a:t>Why everyday waste segregation needs accessible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114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894E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72768"/>
            <a:ext cx="3493008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572768"/>
            <a:ext cx="50292" cy="3337560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1D"/>
                </a:solidFill>
                <a:latin typeface="Aptos"/>
              </a:rPr>
              <a:t>01  Confusion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108960" cy="2624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B6C64"/>
                </a:solidFill>
                <a:latin typeface="Aptos"/>
              </a:rPr>
              <a:t>People may not know which category an unfamiliar waste item belongs 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7992" y="1572768"/>
            <a:ext cx="3493008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07992" y="1572768"/>
            <a:ext cx="50292" cy="3337560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7373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1D"/>
                </a:solidFill>
                <a:latin typeface="Aptos"/>
              </a:rPr>
              <a:t>02  Incorrect Segregation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148840"/>
            <a:ext cx="3108960" cy="2624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B6C64"/>
                </a:solidFill>
                <a:latin typeface="Aptos"/>
              </a:rPr>
              <a:t>Incorrect sorting can reduce the effectiveness of recycling and waste-management processes.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572768"/>
            <a:ext cx="3493008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02752" y="1572768"/>
            <a:ext cx="50292" cy="3337560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7373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1D"/>
                </a:solidFill>
                <a:latin typeface="Aptos"/>
              </a:rPr>
              <a:t>03  Lack of Accessible Guidance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148840"/>
            <a:ext cx="3108960" cy="2624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B6C64"/>
                </a:solidFill>
                <a:latin typeface="Aptos"/>
              </a:rPr>
              <a:t>Users need quick, understandable guidance at the moment they dispose of an item.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23036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894E"/>
                </a:solidFill>
                <a:latin typeface="Aptos"/>
              </a:rPr>
              <a:t>PROBLEM STATEMENT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87168" y="5084064"/>
            <a:ext cx="8887968" cy="685800"/>
          </a:xfrm>
          <a:prstGeom prst="roundRect">
            <a:avLst/>
          </a:prstGeom>
          <a:solidFill>
            <a:srgbClr val="F1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5239512"/>
            <a:ext cx="8458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4231D"/>
                </a:solidFill>
                <a:latin typeface="Aptos"/>
              </a:rPr>
              <a:t>How might we use AI to identify and classify everyday waste so that people can make more informed and responsible disposal decisions?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5B6C64"/>
                </a:solidFill>
                <a:latin typeface="Aptos"/>
              </a:rPr>
              <a:t>EcoSort AI  •  AI for Sustainability Virtual Internship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0">
                <a:solidFill>
                  <a:srgbClr val="5B6C6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231D"/>
                </a:solidFill>
                <a:latin typeface="Aptos"/>
              </a:rPr>
              <a:t>Target Users &amp; 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64"/>
                </a:solidFill>
                <a:latin typeface="Aptos"/>
              </a:rPr>
              <a:t>Who benefits from easier access to waste-classification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114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894E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72768"/>
            <a:ext cx="260604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572768"/>
            <a:ext cx="50292" cy="3886200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2219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31D"/>
                </a:solidFill>
                <a:latin typeface="Aptos"/>
              </a:rPr>
              <a:t>Students &amp; Households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221992" cy="3172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5B6C64"/>
                </a:solidFill>
                <a:latin typeface="Aptos"/>
              </a:rPr>
              <a:t>Quick guidance when disposing of unfamiliar everyday items.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572768"/>
            <a:ext cx="260604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572768"/>
            <a:ext cx="50292" cy="3886200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1737360"/>
            <a:ext cx="22219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31D"/>
                </a:solidFill>
                <a:latin typeface="Aptos"/>
              </a:rPr>
              <a:t>Educational Institutions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148840"/>
            <a:ext cx="2221992" cy="3172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5B6C64"/>
                </a:solidFill>
                <a:latin typeface="Aptos"/>
              </a:rPr>
              <a:t>A practical tool for demonstrating sustainable waste-segregation habits.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1572768"/>
            <a:ext cx="260604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19088" y="1572768"/>
            <a:ext cx="50292" cy="3886200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0256" y="1737360"/>
            <a:ext cx="22219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31D"/>
                </a:solidFill>
                <a:latin typeface="Aptos"/>
              </a:rPr>
              <a:t>Communities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2148840"/>
            <a:ext cx="2221992" cy="3172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5B6C64"/>
                </a:solidFill>
                <a:latin typeface="Aptos"/>
              </a:rPr>
              <a:t>Accessible information that can support more responsible disposal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2015" y="1572768"/>
            <a:ext cx="260604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72015" y="1572768"/>
            <a:ext cx="50292" cy="3886200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3184" y="1737360"/>
            <a:ext cx="22219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31D"/>
                </a:solidFill>
                <a:latin typeface="Aptos"/>
              </a:rPr>
              <a:t>Environment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2148840"/>
            <a:ext cx="2221992" cy="3172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5B6C64"/>
                </a:solidFill>
                <a:latin typeface="Aptos"/>
              </a:rPr>
              <a:t>Potentially better segregation and greater awareness of responsible waste handling.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5B6C64"/>
                </a:solidFill>
                <a:latin typeface="Aptos"/>
              </a:rPr>
              <a:t>EcoSort AI  •  AI for Sustainability Virtual Internship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0">
                <a:solidFill>
                  <a:srgbClr val="5B6C6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231D"/>
                </a:solidFill>
                <a:latin typeface="Aptos"/>
              </a:rPr>
              <a:t>Our Solution — EcoSort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64"/>
                </a:solidFill>
                <a:latin typeface="Aptos"/>
              </a:rPr>
              <a:t>A simple image-based workflow focused on the user's disposal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114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894E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53312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14231D"/>
                </a:solidFill>
                <a:latin typeface="Aptos"/>
              </a:rPr>
              <a:t>Upload a photo of a waste item and receive an AI-assisted classification, disposal guidance, and an eco tip.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40280"/>
            <a:ext cx="20574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871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894E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8803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5B34"/>
                </a:solidFill>
                <a:latin typeface="Aptos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16276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C64"/>
                </a:solidFill>
                <a:latin typeface="Aptos"/>
              </a:rPr>
              <a:t>User uploads an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240280"/>
            <a:ext cx="20574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24871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894E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803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5B34"/>
                </a:solidFill>
                <a:latin typeface="Aptos"/>
              </a:rPr>
              <a:t>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3429000"/>
            <a:ext cx="16276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C64"/>
                </a:solidFill>
                <a:latin typeface="Aptos"/>
              </a:rPr>
              <a:t>Vision model examines the item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3792" y="2240280"/>
            <a:ext cx="20574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8383" y="24871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894E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8803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5B34"/>
                </a:solidFill>
                <a:latin typeface="Aptos"/>
              </a:rPr>
              <a:t>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3429000"/>
            <a:ext cx="16276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C64"/>
                </a:solidFill>
                <a:latin typeface="Aptos"/>
              </a:rPr>
              <a:t>Waste category is identified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07223" y="2240280"/>
            <a:ext cx="20574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71815" y="24871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894E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3" y="28803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5B34"/>
                </a:solidFill>
                <a:latin typeface="Aptos"/>
              </a:rPr>
              <a:t>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6" y="3429000"/>
            <a:ext cx="16276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C64"/>
                </a:solidFill>
                <a:latin typeface="Aptos"/>
              </a:rPr>
              <a:t>Disposal guidance is provided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0655" y="2240280"/>
            <a:ext cx="20574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5247" y="24871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894E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7815" y="28803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5B34"/>
                </a:solidFill>
                <a:latin typeface="Aptos"/>
              </a:rPr>
              <a:t>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7" y="3429000"/>
            <a:ext cx="16276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C64"/>
                </a:solidFill>
                <a:latin typeface="Aptos"/>
              </a:rPr>
              <a:t>User makes a more informed choice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3892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894E"/>
                </a:solidFill>
                <a:latin typeface="Aptos"/>
              </a:rPr>
              <a:t>SUPPORTED CATEGORIES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511149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4231D"/>
                </a:solidFill>
                <a:latin typeface="Aptos"/>
              </a:rPr>
              <a:t>Organic  •  Paper  •  Plastic  •  Glass  •  Metal  •  E-Waste  •  Other / Unknown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5B6C64"/>
                </a:solidFill>
                <a:latin typeface="Aptos"/>
              </a:rPr>
              <a:t>EcoSort AI  •  AI for Sustainability Virtual Internship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0">
                <a:solidFill>
                  <a:srgbClr val="5B6C6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231D"/>
                </a:solidFill>
                <a:latin typeface="Aptos"/>
              </a:rPr>
              <a:t>AI Technology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64"/>
                </a:solidFill>
                <a:latin typeface="Aptos"/>
              </a:rPr>
              <a:t>Where AI contributes to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114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894E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81328"/>
            <a:ext cx="534924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50292" cy="2148840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1D"/>
                </a:solidFill>
                <a:latin typeface="Aptos"/>
              </a:rPr>
              <a:t>Multimodal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965192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C64"/>
                </a:solidFill>
                <a:latin typeface="Aptos"/>
              </a:rPr>
              <a:t>The application is designed to accept an image as input and use a vision-capable model to identify the primary waste item.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81328"/>
            <a:ext cx="534924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481328"/>
            <a:ext cx="50292" cy="2148840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64592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1D"/>
                </a:solidFill>
                <a:latin typeface="Aptos"/>
              </a:rPr>
              <a:t>Prompt-Guided Decision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057400"/>
            <a:ext cx="4965192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C64"/>
                </a:solidFill>
                <a:latin typeface="Aptos"/>
              </a:rPr>
              <a:t>A structured prompt requests an item, category, assessment, disposal guidance, and eco tip while handling unclear images conservatively.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977639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894E"/>
                </a:solidFill>
                <a:latin typeface="Aptos"/>
              </a:rPr>
              <a:t>AI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416552"/>
            <a:ext cx="2011680" cy="822960"/>
          </a:xfrm>
          <a:prstGeom prst="roundRect">
            <a:avLst/>
          </a:prstGeom>
          <a:solidFill>
            <a:srgbClr val="E7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663440"/>
            <a:ext cx="17922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75B34"/>
                </a:solidFill>
                <a:latin typeface="Aptos"/>
              </a:rPr>
              <a:t>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464515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A894E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4416552"/>
            <a:ext cx="2011680" cy="822960"/>
          </a:xfrm>
          <a:prstGeom prst="roundRect">
            <a:avLst/>
          </a:prstGeom>
          <a:solidFill>
            <a:srgbClr val="E7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1608" y="4663440"/>
            <a:ext cx="17922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75B34"/>
                </a:solidFill>
                <a:latin typeface="Aptos"/>
              </a:rPr>
              <a:t>Vision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6712" y="464515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A894E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416552"/>
            <a:ext cx="2011680" cy="822960"/>
          </a:xfrm>
          <a:prstGeom prst="roundRect">
            <a:avLst/>
          </a:prstGeom>
          <a:solidFill>
            <a:srgbClr val="E7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663440"/>
            <a:ext cx="17922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75B34"/>
                </a:solidFill>
                <a:latin typeface="Aptos"/>
              </a:rPr>
              <a:t>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464515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A894E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4416552"/>
            <a:ext cx="2011680" cy="822960"/>
          </a:xfrm>
          <a:prstGeom prst="roundRect">
            <a:avLst/>
          </a:prstGeom>
          <a:solidFill>
            <a:srgbClr val="F1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8" y="4663440"/>
            <a:ext cx="17922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75B34"/>
                </a:solidFill>
                <a:latin typeface="Aptos"/>
              </a:rPr>
              <a:t>Guidance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3212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894E"/>
                </a:solidFill>
                <a:latin typeface="Aptos"/>
              </a:rPr>
              <a:t>Planned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55046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31D"/>
                </a:solidFill>
                <a:latin typeface="Aptos"/>
              </a:rPr>
              <a:t>IBM watsonx.ai + IBM Granite 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422392"/>
            <a:ext cx="45720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C64"/>
                </a:solidFill>
                <a:latin typeface="Aptos"/>
              </a:rPr>
              <a:t>Submission status: prototype interface and AI workflow are implemented; live IBM credential/model configuration is a future technical step.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5B6C64"/>
                </a:solidFill>
                <a:latin typeface="Aptos"/>
              </a:rPr>
              <a:t>EcoSort AI  •  AI for Sustainability Virtual Internship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0">
                <a:solidFill>
                  <a:srgbClr val="5B6C6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231D"/>
                </a:solidFill>
                <a:latin typeface="Aptos"/>
              </a:rPr>
              <a:t>Prototype — 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64"/>
                </a:solidFill>
                <a:latin typeface="Aptos"/>
              </a:rPr>
              <a:t>Screenshots of the current EcoSort AI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114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894E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417320"/>
            <a:ext cx="52578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27648" y="1417320"/>
            <a:ext cx="52578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482043"/>
            <a:ext cx="4892040" cy="2387688"/>
          </a:xfrm>
          <a:prstGeom prst="rect">
            <a:avLst/>
          </a:prstGeom>
        </p:spPr>
      </p:pic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505771"/>
            <a:ext cx="4892040" cy="2340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053328"/>
            <a:ext cx="4800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B6C64"/>
                </a:solidFill>
                <a:latin typeface="Aptos"/>
              </a:rPr>
              <a:t>Home / upload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6053328"/>
            <a:ext cx="4800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B6C64"/>
                </a:solidFill>
                <a:latin typeface="Aptos"/>
              </a:rPr>
              <a:t>Prototype analysis result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5B6C64"/>
                </a:solidFill>
                <a:latin typeface="Aptos"/>
              </a:rPr>
              <a:t>EcoSort AI  •  AI for Sustainability Virtual Internship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0">
                <a:solidFill>
                  <a:srgbClr val="5B6C6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231D"/>
                </a:solidFill>
                <a:latin typeface="Aptos"/>
              </a:rPr>
              <a:t>Prototype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64"/>
                </a:solidFill>
                <a:latin typeface="Aptos"/>
              </a:rPr>
              <a:t>Illustrative output captured from the current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114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894E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44752"/>
            <a:ext cx="489204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10512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231D"/>
                </a:solidFill>
                <a:latin typeface="Aptos"/>
              </a:rPr>
              <a:t>Plastic Bottle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48716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5B6C64"/>
                </a:solidFill>
                <a:latin typeface="Aptos"/>
              </a:rPr>
              <a:t>WASTE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761488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A894E"/>
                </a:solidFill>
                <a:latin typeface="Aptos"/>
              </a:rPr>
              <a:t>Plastic / Recyclable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493008"/>
            <a:ext cx="2103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5B6C64"/>
                </a:solidFill>
                <a:latin typeface="Aptos"/>
              </a:rPr>
              <a:t>PROTOTYPE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44728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4231D"/>
                </a:solidFill>
                <a:latin typeface="Aptos"/>
              </a:rPr>
              <a:t>94%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" y="3813048"/>
            <a:ext cx="4160520" cy="146304"/>
          </a:xfrm>
          <a:prstGeom prst="roundRect">
            <a:avLst/>
          </a:prstGeom>
          <a:solidFill>
            <a:srgbClr val="D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813048"/>
            <a:ext cx="3913632" cy="146304"/>
          </a:xfrm>
          <a:prstGeom prst="round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4279392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C64"/>
                </a:solidFill>
                <a:latin typeface="Aptos"/>
              </a:rPr>
              <a:t>The percentage shown here is a prototype display value, not a calibrated probability.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70448" y="1444752"/>
            <a:ext cx="546811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70448" y="1444752"/>
            <a:ext cx="50292" cy="1965960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1616" y="1609344"/>
            <a:ext cx="50840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1D"/>
                </a:solidFill>
                <a:latin typeface="Aptos"/>
              </a:rPr>
              <a:t>Disposal Guidance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2020824"/>
            <a:ext cx="5084064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C64"/>
                </a:solidFill>
                <a:latin typeface="Aptos"/>
              </a:rPr>
              <a:t>Place the item in the appropriate recyclable-waste collection stream according to local disposal guidelines.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70448" y="3675887"/>
            <a:ext cx="546811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70448" y="3675887"/>
            <a:ext cx="50292" cy="1965960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1616" y="3840479"/>
            <a:ext cx="50840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1D"/>
                </a:solidFill>
                <a:latin typeface="Aptos"/>
              </a:rPr>
              <a:t>Eco Tip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4251959"/>
            <a:ext cx="5084064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C64"/>
                </a:solidFill>
                <a:latin typeface="Aptos"/>
              </a:rPr>
              <a:t>Consider reusable alternatives to reduce dependence on single-use plastic.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5B6C64"/>
                </a:solidFill>
                <a:latin typeface="Aptos"/>
              </a:rPr>
              <a:t>EcoSort AI  •  AI for Sustainability Virtual Internship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0">
                <a:solidFill>
                  <a:srgbClr val="5B6C6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231D"/>
                </a:solidFill>
                <a:latin typeface="Aptos"/>
              </a:rPr>
              <a:t>Responsible AI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64"/>
                </a:solidFill>
                <a:latin typeface="Aptos"/>
              </a:rPr>
              <a:t>Required considerations for fairness, transparency, ethics, and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114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894E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08760"/>
            <a:ext cx="29260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508760"/>
            <a:ext cx="50292" cy="1874519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2542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4231D"/>
                </a:solidFill>
                <a:latin typeface="Aptos"/>
              </a:rPr>
              <a:t>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2542032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5B6C64"/>
                </a:solidFill>
                <a:latin typeface="Aptos"/>
              </a:rPr>
              <a:t>Focus decisions on the waste item rather than user characteristics or unrelated assumptions.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0791" y="1508760"/>
            <a:ext cx="29260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50791" y="1508760"/>
            <a:ext cx="50292" cy="1874519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1673351"/>
            <a:ext cx="2542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4231D"/>
                </a:solidFill>
                <a:latin typeface="Aptos"/>
              </a:rPr>
              <a:t>Transparency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2084831"/>
            <a:ext cx="2542032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5B6C64"/>
                </a:solidFill>
                <a:latin typeface="Aptos"/>
              </a:rPr>
              <a:t>Explain that classifications are AI-generated assessments and may be uncertain.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352" y="1508760"/>
            <a:ext cx="29260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2" y="1508760"/>
            <a:ext cx="50292" cy="1874519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673351"/>
            <a:ext cx="2542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4231D"/>
                </a:solidFill>
                <a:latin typeface="Aptos"/>
              </a:rPr>
              <a:t>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084831"/>
            <a:ext cx="2542032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5B6C64"/>
                </a:solidFill>
                <a:latin typeface="Aptos"/>
              </a:rPr>
              <a:t>Avoid unnecessary personal or sensitive information in uploaded images.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3794760"/>
            <a:ext cx="29260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7440" y="3794760"/>
            <a:ext cx="50292" cy="1874519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78608" y="3959352"/>
            <a:ext cx="2542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4231D"/>
                </a:solidFill>
                <a:latin typeface="Aptos"/>
              </a:rPr>
              <a:t>Safety &amp;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4370832"/>
            <a:ext cx="2542032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5B6C64"/>
                </a:solidFill>
                <a:latin typeface="Aptos"/>
              </a:rPr>
              <a:t>When an image is unclear, avoid confident guessing and use an unknown category or recommend verification.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3794760"/>
            <a:ext cx="29260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3794760"/>
            <a:ext cx="50292" cy="1874519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16168" y="3959352"/>
            <a:ext cx="2542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4231D"/>
                </a:solidFill>
                <a:latin typeface="Aptos"/>
              </a:rPr>
              <a:t>Local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6168" y="4370832"/>
            <a:ext cx="2542032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5B6C64"/>
                </a:solidFill>
                <a:latin typeface="Aptos"/>
              </a:rPr>
              <a:t>Waste rules differ by location; guidance should encourage users to follow local waste-management policies.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5B6C64"/>
                </a:solidFill>
                <a:latin typeface="Aptos"/>
              </a:rPr>
              <a:t>EcoSort AI  •  AI for Sustainability Virtual Internship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0">
                <a:solidFill>
                  <a:srgbClr val="5B6C6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231D"/>
                </a:solidFill>
                <a:latin typeface="Aptos"/>
              </a:rPr>
              <a:t>SDG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64"/>
                </a:solidFill>
                <a:latin typeface="Aptos"/>
              </a:rPr>
              <a:t>Primary focus: SDG 12 — Responsible Consumption &amp;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114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894E"/>
                </a:solidFill>
                <a:latin typeface="Aptos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481328"/>
            <a:ext cx="3246120" cy="4160520"/>
          </a:xfrm>
          <a:prstGeom prst="roundRect">
            <a:avLst/>
          </a:prstGeom>
          <a:solidFill>
            <a:srgbClr val="E7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A894E"/>
                </a:solidFill>
                <a:latin typeface="Aptos"/>
              </a:rPr>
              <a:t>SDG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331720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175B34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182112"/>
            <a:ext cx="2514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31D"/>
                </a:solidFill>
                <a:latin typeface="Aptos"/>
              </a:rPr>
              <a:t>Responsible
Consumption
&amp;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1627632"/>
            <a:ext cx="4023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894E"/>
                </a:solidFill>
                <a:latin typeface="Aptos"/>
              </a:rPr>
              <a:t>HOW ECOSORT AI SUPPORTS SDG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57400"/>
            <a:ext cx="66294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03704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A894E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2157984"/>
            <a:ext cx="5715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4231D"/>
                </a:solidFill>
                <a:latin typeface="Aptos"/>
              </a:rPr>
              <a:t>Promotes awareness of responsible waste segregation.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770632"/>
            <a:ext cx="66294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916936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A894E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2871215"/>
            <a:ext cx="5715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4231D"/>
                </a:solidFill>
                <a:latin typeface="Aptos"/>
              </a:rPr>
              <a:t>Supports more informed disposal decisions.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483864"/>
            <a:ext cx="66294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63016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A894E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3584448"/>
            <a:ext cx="5715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4231D"/>
                </a:solidFill>
                <a:latin typeface="Aptos"/>
              </a:rPr>
              <a:t>Encourages recycling and reuse-oriented thinking.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4197096"/>
            <a:ext cx="66294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34340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A894E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912" y="4297679"/>
            <a:ext cx="5715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4231D"/>
                </a:solidFill>
                <a:latin typeface="Aptos"/>
              </a:rPr>
              <a:t>Creates a practical AI application for sustainability education.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193792"/>
            <a:ext cx="6492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5B6C64"/>
                </a:solidFill>
                <a:latin typeface="Aptos"/>
              </a:rPr>
              <a:t>Secondary relevance: SDG 11 — Sustainable Cities &amp; Communities   •   SDG 13 — Climate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5B6C64"/>
                </a:solidFill>
                <a:latin typeface="Aptos"/>
              </a:rPr>
              <a:t>EcoSort AI  •  AI for Sustainability Virtual Internship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0">
                <a:solidFill>
                  <a:srgbClr val="5B6C6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231D"/>
                </a:solidFill>
                <a:latin typeface="Aptos"/>
              </a:rPr>
              <a:t>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64"/>
                </a:solidFill>
                <a:latin typeface="Aptos"/>
              </a:rPr>
              <a:t>What changes if EcoSort AI is implemented?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114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894E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72768"/>
            <a:ext cx="3493008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572768"/>
            <a:ext cx="50292" cy="3611880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1D"/>
                </a:solidFill>
                <a:latin typeface="Aptos"/>
              </a:rPr>
              <a:t>Environmental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108960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C64"/>
                </a:solidFill>
                <a:latin typeface="Aptos"/>
              </a:rPr>
              <a:t>• Better awareness of waste segregation
• Potentially improved recycling decisions
• Greater visibility of reuse and responsible disposal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7992" y="1572768"/>
            <a:ext cx="3493008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07992" y="1572768"/>
            <a:ext cx="50292" cy="3611880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7373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1D"/>
                </a:solidFill>
                <a:latin typeface="Aptos"/>
              </a:rPr>
              <a:t>Social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148840"/>
            <a:ext cx="3108960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C64"/>
                </a:solidFill>
                <a:latin typeface="Aptos"/>
              </a:rPr>
              <a:t>• Quick and accessible guidance
• Supports sustainability education
• Helps users handle unfamiliar items with more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572768"/>
            <a:ext cx="3493008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02752" y="1572768"/>
            <a:ext cx="50292" cy="3611880"/>
          </a:xfrm>
          <a:prstGeom prst="rect">
            <a:avLst/>
          </a:prstGeom>
          <a:solidFill>
            <a:srgbClr val="2A8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7373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1D"/>
                </a:solidFill>
                <a:latin typeface="Aptos"/>
              </a:rPr>
              <a:t>Future Potential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148840"/>
            <a:ext cx="3108960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C64"/>
                </a:solidFill>
                <a:latin typeface="Aptos"/>
              </a:rPr>
              <a:t>• Local disposal guidance
• Recycling/reuse recommendations
• Larger evaluation dataset
• Improved uncertainty handling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5559552"/>
            <a:ext cx="8458200" cy="457200"/>
          </a:xfrm>
          <a:prstGeom prst="roundRect">
            <a:avLst/>
          </a:prstGeom>
          <a:solidFill>
            <a:srgbClr val="E7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5660136"/>
            <a:ext cx="8092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5B34"/>
                </a:solidFill>
                <a:latin typeface="Aptos"/>
              </a:rPr>
              <a:t>IDENTIFY   →   INFORM   →   ENABLE RESPONSIBLE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5B6C64"/>
                </a:solidFill>
                <a:latin typeface="Aptos"/>
              </a:rPr>
              <a:t>EcoSort AI  •  AI for Sustainability Virtual Internship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0">
                <a:solidFill>
                  <a:srgbClr val="5B6C6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231D"/>
                </a:solidFill>
                <a:latin typeface="Aptos"/>
              </a:rPr>
              <a:t>Project Status &amp; Future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4183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64"/>
                </a:solidFill>
                <a:latin typeface="Aptos"/>
              </a:rPr>
              <a:t>What is complete and what can be developed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114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894E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44752"/>
            <a:ext cx="1076248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9344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894E"/>
                </a:solidFill>
                <a:latin typeface="Aptos"/>
              </a:rPr>
              <a:t>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572768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4231D"/>
                </a:solidFill>
                <a:latin typeface="Aptos"/>
              </a:rPr>
              <a:t>Concept, problem definition, SDG mapping, UI prototype, upload flow, result interface, disposal guidance, and eco tips.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606040"/>
            <a:ext cx="1076248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7063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894E"/>
                </a:solidFill>
                <a:latin typeface="Aptos"/>
              </a:rPr>
              <a:t>PROTOTYPE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734056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4231D"/>
                </a:solidFill>
                <a:latin typeface="Aptos"/>
              </a:rPr>
              <a:t>Screenshots demonstrate the intended user journey from image upload to a structured waste-analysis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67328"/>
            <a:ext cx="1076248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894E"/>
                </a:solidFill>
                <a:latin typeface="Aptos"/>
              </a:rPr>
              <a:t>NEXT TECHNICAL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895344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4231D"/>
                </a:solidFill>
                <a:latin typeface="Aptos"/>
              </a:rPr>
              <a:t>Connect the existing backend to a configured IBM watsonx.ai / Granite Vision deployment when access is available.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928616"/>
            <a:ext cx="1076248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09320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894E"/>
                </a:solidFill>
                <a:latin typeface="Aptos"/>
              </a:rPr>
              <a:t>FUTURE ENHANCEMENTS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5056632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4231D"/>
                </a:solidFill>
                <a:latin typeface="Aptos"/>
              </a:rPr>
              <a:t>Local policy/RAG integration, stronger validation, expanded categories, evaluation dataset, and improved uncertainty communication.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5B6C64"/>
                </a:solidFill>
                <a:latin typeface="Aptos"/>
              </a:rPr>
              <a:t>EcoSort AI  •  AI for Sustainability Virtual Internship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0">
                <a:solidFill>
                  <a:srgbClr val="5B6C6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69680" y="-685800"/>
            <a:ext cx="3840480" cy="3840480"/>
          </a:xfrm>
          <a:prstGeom prst="roundRect">
            <a:avLst/>
          </a:prstGeom>
          <a:solidFill>
            <a:srgbClr val="17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464040" y="32004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000" b="1">
                <a:solidFill>
                  <a:srgbClr val="E7F4EA"/>
                </a:solidFill>
                <a:latin typeface="Aptos"/>
              </a:rPr>
              <a:t>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2402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E7F4EA"/>
                </a:solidFill>
                <a:latin typeface="Aptos"/>
              </a:rPr>
              <a:t>EcoSort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8803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Sort smarter. Live greener.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5943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AI for Sustainability Virtual Internship
Sphoorthy Engineering College
Arjun Patil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E7F4EA"/>
                </a:solidFill>
                <a:latin typeface="Aptos"/>
              </a:rPr>
              <a:t>SDG 12  •  Responsible Consumption &amp;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